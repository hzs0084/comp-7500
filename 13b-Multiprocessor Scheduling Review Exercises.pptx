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256" r:id="rId2"/>
    <p:sldId id="488" r:id="rId3"/>
    <p:sldId id="445" r:id="rId4"/>
    <p:sldId id="484" r:id="rId5"/>
    <p:sldId id="485" r:id="rId6"/>
    <p:sldId id="486" r:id="rId7"/>
    <p:sldId id="487" r:id="rId8"/>
  </p:sldIdLst>
  <p:sldSz cx="12192000" cy="6858000"/>
  <p:notesSz cx="6858000" cy="91440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D550C"/>
    <a:srgbClr val="03244D"/>
    <a:srgbClr val="496E9C"/>
    <a:srgbClr val="F68026"/>
    <a:srgbClr val="6699FF"/>
    <a:srgbClr val="003399"/>
    <a:srgbClr val="0033CC"/>
    <a:srgbClr val="33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1" autoAdjust="0"/>
    <p:restoredTop sz="48357" autoAdjust="0"/>
  </p:normalViewPr>
  <p:slideViewPr>
    <p:cSldViewPr>
      <p:cViewPr varScale="1">
        <p:scale>
          <a:sx n="55" d="100"/>
          <a:sy n="55" d="100"/>
        </p:scale>
        <p:origin x="291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9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60"/>
    </p:cViewPr>
  </p:sorterViewPr>
  <p:notesViewPr>
    <p:cSldViewPr>
      <p:cViewPr varScale="1">
        <p:scale>
          <a:sx n="65" d="100"/>
          <a:sy n="65" d="100"/>
        </p:scale>
        <p:origin x="154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>
              <a:defRPr sz="1100" b="0">
                <a:latin typeface="Times New Roman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>
              <a:defRPr sz="1100" b="0">
                <a:latin typeface="Times New Roman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>
              <a:defRPr sz="1100" b="0">
                <a:latin typeface="Times New Roman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>
              <a:defRPr sz="1100" b="0">
                <a:latin typeface="Times New Roman" charset="0"/>
              </a:defRPr>
            </a:lvl1pPr>
          </a:lstStyle>
          <a:p>
            <a:fld id="{64039693-3EF9-9243-B46C-D09A044C582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1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chemeClr val="bg1"/>
                </a:solidFill>
                <a:latin typeface="Verdana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  <a:latin typeface="Verdana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343400"/>
            <a:ext cx="50260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735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chemeClr val="bg1"/>
                </a:solidFill>
                <a:latin typeface="Verdana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5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BA95FC9D-A361-0047-A127-CC478746A0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438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D69666A6-51FC-9E48-90AC-0A20BB3F2D57}" type="slidenum">
              <a:rPr lang="en-US" sz="1100">
                <a:solidFill>
                  <a:schemeClr val="bg1"/>
                </a:solidFill>
              </a:rPr>
              <a:pPr/>
              <a:t>1</a:t>
            </a:fld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63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63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see </a:t>
            </a:r>
            <a:r>
              <a:rPr lang="en-US" baseline="0" dirty="0" err="1">
                <a:latin typeface="Times New Roman" charset="0"/>
                <a:ea typeface="ＭＳ Ｐゴシック" charset="0"/>
                <a:cs typeface="ＭＳ Ｐゴシック" charset="0"/>
              </a:rPr>
              <a:t>Plickers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12-Multiprocessor Scheduling for Review Questions</a:t>
            </a:r>
          </a:p>
          <a:p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583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224B6B57-7BA4-4DE1-A618-CA00C332A9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3246955-5243-47B5-B422-9E69973F3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068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78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44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83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59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40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3244D"/>
                </a:solidFill>
              </a:defRPr>
            </a:lvl1pPr>
            <a:lvl2pPr>
              <a:defRPr>
                <a:solidFill>
                  <a:srgbClr val="03244D"/>
                </a:solidFill>
              </a:defRPr>
            </a:lvl2pPr>
            <a:lvl3pPr>
              <a:defRPr>
                <a:solidFill>
                  <a:srgbClr val="03244D"/>
                </a:solidFill>
              </a:defRPr>
            </a:lvl3pPr>
            <a:lvl4pPr>
              <a:defRPr>
                <a:solidFill>
                  <a:srgbClr val="03244D"/>
                </a:solidFill>
              </a:defRPr>
            </a:lvl4pPr>
            <a:lvl5pPr>
              <a:defRPr>
                <a:solidFill>
                  <a:srgbClr val="03244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587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338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5689600" cy="5410200"/>
          </a:xfrm>
        </p:spPr>
        <p:txBody>
          <a:bodyPr/>
          <a:lstStyle>
            <a:lvl1pPr>
              <a:defRPr sz="2800">
                <a:solidFill>
                  <a:srgbClr val="03244D"/>
                </a:solidFill>
              </a:defRPr>
            </a:lvl1pPr>
            <a:lvl2pPr>
              <a:defRPr sz="2400">
                <a:solidFill>
                  <a:srgbClr val="03244D"/>
                </a:solidFill>
              </a:defRPr>
            </a:lvl2pPr>
            <a:lvl3pPr>
              <a:defRPr sz="2000">
                <a:solidFill>
                  <a:srgbClr val="03244D"/>
                </a:solidFill>
              </a:defRPr>
            </a:lvl3pPr>
            <a:lvl4pPr>
              <a:defRPr sz="1800">
                <a:solidFill>
                  <a:srgbClr val="03244D"/>
                </a:solidFill>
              </a:defRPr>
            </a:lvl4pPr>
            <a:lvl5pPr>
              <a:defRPr sz="1800">
                <a:solidFill>
                  <a:srgbClr val="03244D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689600" cy="5410200"/>
          </a:xfrm>
        </p:spPr>
        <p:txBody>
          <a:bodyPr/>
          <a:lstStyle>
            <a:lvl1pPr>
              <a:defRPr sz="2800">
                <a:solidFill>
                  <a:srgbClr val="03244D"/>
                </a:solidFill>
              </a:defRPr>
            </a:lvl1pPr>
            <a:lvl2pPr>
              <a:defRPr sz="2400">
                <a:solidFill>
                  <a:srgbClr val="03244D"/>
                </a:solidFill>
              </a:defRPr>
            </a:lvl2pPr>
            <a:lvl3pPr>
              <a:defRPr sz="2000">
                <a:solidFill>
                  <a:srgbClr val="03244D"/>
                </a:solidFill>
              </a:defRPr>
            </a:lvl3pPr>
            <a:lvl4pPr>
              <a:defRPr sz="1800">
                <a:solidFill>
                  <a:srgbClr val="03244D"/>
                </a:solidFill>
              </a:defRPr>
            </a:lvl4pPr>
            <a:lvl5pPr>
              <a:defRPr sz="1800">
                <a:solidFill>
                  <a:srgbClr val="03244D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189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3244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rgbClr val="03244D"/>
                </a:solidFill>
              </a:defRPr>
            </a:lvl1pPr>
            <a:lvl2pPr>
              <a:defRPr sz="2000">
                <a:solidFill>
                  <a:srgbClr val="03244D"/>
                </a:solidFill>
              </a:defRPr>
            </a:lvl2pPr>
            <a:lvl3pPr>
              <a:defRPr sz="1800">
                <a:solidFill>
                  <a:srgbClr val="03244D"/>
                </a:solidFill>
              </a:defRPr>
            </a:lvl3pPr>
            <a:lvl4pPr>
              <a:defRPr sz="1600">
                <a:solidFill>
                  <a:srgbClr val="03244D"/>
                </a:solidFill>
              </a:defRPr>
            </a:lvl4pPr>
            <a:lvl5pPr>
              <a:defRPr sz="1600">
                <a:solidFill>
                  <a:srgbClr val="03244D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3244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rgbClr val="03244D"/>
                </a:solidFill>
              </a:defRPr>
            </a:lvl1pPr>
            <a:lvl2pPr>
              <a:defRPr sz="2000">
                <a:solidFill>
                  <a:srgbClr val="03244D"/>
                </a:solidFill>
              </a:defRPr>
            </a:lvl2pPr>
            <a:lvl3pPr>
              <a:defRPr sz="1800">
                <a:solidFill>
                  <a:srgbClr val="03244D"/>
                </a:solidFill>
              </a:defRPr>
            </a:lvl3pPr>
            <a:lvl4pPr>
              <a:defRPr sz="1600">
                <a:solidFill>
                  <a:srgbClr val="03244D"/>
                </a:solidFill>
              </a:defRPr>
            </a:lvl4pPr>
            <a:lvl5pPr>
              <a:defRPr sz="1600">
                <a:solidFill>
                  <a:srgbClr val="03244D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699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160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72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rgbClr val="03244D"/>
                </a:solidFill>
              </a:defRPr>
            </a:lvl1pPr>
            <a:lvl2pPr>
              <a:defRPr sz="2800">
                <a:solidFill>
                  <a:srgbClr val="03244D"/>
                </a:solidFill>
              </a:defRPr>
            </a:lvl2pPr>
            <a:lvl3pPr>
              <a:defRPr sz="2400">
                <a:solidFill>
                  <a:srgbClr val="03244D"/>
                </a:solidFill>
              </a:defRPr>
            </a:lvl3pPr>
            <a:lvl4pPr>
              <a:defRPr sz="2000">
                <a:solidFill>
                  <a:srgbClr val="03244D"/>
                </a:solidFill>
              </a:defRPr>
            </a:lvl4pPr>
            <a:lvl5pPr>
              <a:defRPr sz="2000">
                <a:solidFill>
                  <a:srgbClr val="03244D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047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rgbClr val="03244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852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275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8956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836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828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381000"/>
            <a:ext cx="11087100" cy="838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1" y="1247776"/>
            <a:ext cx="11087100" cy="522922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0" y="6477000"/>
            <a:ext cx="12192000" cy="381000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000" dirty="0">
                <a:solidFill>
                  <a:schemeClr val="bg1"/>
                </a:solidFill>
              </a:rPr>
              <a:t>COMP7500/COMP7506 Advanced Operating Systems - </a:t>
            </a:r>
            <a:fld id="{9C7CF1EC-0219-8349-AAE4-AC62B66AA0BE}" type="slidenum">
              <a:rPr lang="en-US" sz="1000" smtClean="0">
                <a:solidFill>
                  <a:schemeClr val="bg1"/>
                </a:solidFill>
              </a:rPr>
              <a:pPr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0" y="0"/>
            <a:ext cx="12192000" cy="152400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0">
              <a:latin typeface="Verdana" pitchFamily="-112" charset="0"/>
              <a:ea typeface="+mn-ea"/>
              <a:cs typeface="+mn-cs"/>
            </a:endParaRPr>
          </a:p>
        </p:txBody>
      </p:sp>
      <p:pic>
        <p:nvPicPr>
          <p:cNvPr id="1030" name="Picture 13" descr="cse_logo_blu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505576"/>
            <a:ext cx="5715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Image result for auburn university college of engineering">
            <a:extLst>
              <a:ext uri="{FF2B5EF4-FFF2-40B4-BE49-F238E27FC236}">
                <a16:creationId xmlns:a16="http://schemas.microsoft.com/office/drawing/2014/main" id="{505A58AC-2344-4FB3-94E3-796BC04C2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731" y="5264077"/>
            <a:ext cx="1455506" cy="121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alibri" charset="0"/>
          <a:ea typeface="Calibri" charset="0"/>
          <a:cs typeface="Calibri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19600" y="304800"/>
            <a:ext cx="7086600" cy="1743075"/>
          </a:xfrm>
        </p:spPr>
        <p:txBody>
          <a:bodyPr/>
          <a:lstStyle/>
          <a:p>
            <a:r>
              <a:rPr lang="en-US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rPr>
              <a:t>COMP7500 </a:t>
            </a:r>
            <a:br>
              <a:rPr lang="en-US" dirty="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n-US" dirty="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rPr>
              <a:t>Advanced Operating Systems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105400" y="4191000"/>
            <a:ext cx="5907881" cy="19812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3244D"/>
                </a:solidFill>
                <a:latin typeface="Calibri" pitchFamily="34" charset="0"/>
                <a:ea typeface="SimSun" pitchFamily="2" charset="-122"/>
              </a:rPr>
              <a:t>Xiao </a:t>
            </a:r>
            <a:r>
              <a:rPr lang="en-US" altLang="zh-CN" b="1" dirty="0">
                <a:solidFill>
                  <a:srgbClr val="03244D"/>
                </a:solidFill>
                <a:latin typeface="Calibri" pitchFamily="34" charset="0"/>
                <a:ea typeface="SimSun" pitchFamily="2" charset="-122"/>
              </a:rPr>
              <a:t>Qin</a:t>
            </a:r>
          </a:p>
          <a:p>
            <a:pPr>
              <a:spcBef>
                <a:spcPct val="50000"/>
              </a:spcBef>
            </a:pPr>
            <a: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  <a:t>Auburn University</a:t>
            </a:r>
            <a:b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</a:br>
            <a: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  <a:t>http://www.eng.auburn.edu/~xqin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  <a:t>xqin@auburn.edu</a:t>
            </a:r>
            <a:endParaRPr lang="en-US" sz="2400" dirty="0">
              <a:solidFill>
                <a:srgbClr val="03244D"/>
              </a:solidFill>
            </a:endParaRPr>
          </a:p>
        </p:txBody>
      </p:sp>
      <p:pic>
        <p:nvPicPr>
          <p:cNvPr id="15364" name="Picture 8" descr="SGCOE V 158 2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1"/>
            <a:ext cx="38100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04BCC92-66D4-40D6-BBFE-A3DDF3E50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219325"/>
            <a:ext cx="6858000" cy="174307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Calibri" charset="0"/>
                <a:ea typeface="Calibri" charset="0"/>
                <a:cs typeface="Calibri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r>
              <a:rPr lang="en-US" altLang="zh-Hans" sz="3600" b="0" kern="0" dirty="0">
                <a:solidFill>
                  <a:srgbClr val="03244D"/>
                </a:solidFill>
              </a:rPr>
              <a:t>Multiprocessor Scheduling</a:t>
            </a:r>
          </a:p>
          <a:p>
            <a:r>
              <a:rPr lang="en-US" sz="3600" b="0" kern="0" dirty="0">
                <a:solidFill>
                  <a:srgbClr val="DD550C"/>
                </a:solidFill>
              </a:rPr>
              <a:t>Review Exercises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0521543-4B91-4417-90A9-7E8D10CE0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114300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066825F-DF27-4BB7-88E0-65FE4DA4E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8600" y="1143000"/>
            <a:ext cx="76962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 dirty="0"/>
              <a:t>What are the five granularity levels in parallelisms?</a:t>
            </a:r>
          </a:p>
          <a:p>
            <a:pPr>
              <a:lnSpc>
                <a:spcPct val="90000"/>
              </a:lnSpc>
            </a:pPr>
            <a:r>
              <a:rPr lang="en-US" altLang="en-US" sz="3600" dirty="0"/>
              <a:t>What are the three scheduling design issues?</a:t>
            </a:r>
          </a:p>
          <a:p>
            <a:pPr>
              <a:lnSpc>
                <a:spcPct val="90000"/>
              </a:lnSpc>
            </a:pPr>
            <a:r>
              <a:rPr lang="en-US" altLang="en-US" sz="3600" dirty="0"/>
              <a:t>What are the two scheduling architectures?</a:t>
            </a:r>
          </a:p>
          <a:p>
            <a:pPr>
              <a:lnSpc>
                <a:spcPct val="90000"/>
              </a:lnSpc>
            </a:pPr>
            <a:r>
              <a:rPr lang="en-US" altLang="en-US" sz="3600" dirty="0"/>
              <a:t>How does load sharing work?</a:t>
            </a:r>
          </a:p>
          <a:p>
            <a:pPr>
              <a:lnSpc>
                <a:spcPct val="90000"/>
              </a:lnSpc>
            </a:pPr>
            <a:r>
              <a:rPr lang="en-US" altLang="en-US" sz="3600" dirty="0">
                <a:solidFill>
                  <a:srgbClr val="DD550C"/>
                </a:solidFill>
              </a:rPr>
              <a:t>Reading Assignment</a:t>
            </a:r>
            <a:r>
              <a:rPr lang="en-US" altLang="en-US" sz="3600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/>
              <a:t>              Chapter 6.5 pp. 278-283.</a:t>
            </a:r>
            <a:endParaRPr lang="en-US" altLang="en-US" dirty="0"/>
          </a:p>
        </p:txBody>
      </p:sp>
      <p:pic>
        <p:nvPicPr>
          <p:cNvPr id="8" name="Picture 7" descr="A close up of a logo&#10;&#10;Description generated with high confidence">
            <a:extLst>
              <a:ext uri="{FF2B5EF4-FFF2-40B4-BE49-F238E27FC236}">
                <a16:creationId xmlns:a16="http://schemas.microsoft.com/office/drawing/2014/main" id="{7170547B-6060-420B-9301-584B8408C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3156"/>
            <a:ext cx="3058386" cy="305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6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210E054-6EF3-47F2-9179-383ECC240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11201400" cy="1981200"/>
          </a:xfrm>
        </p:spPr>
        <p:txBody>
          <a:bodyPr/>
          <a:lstStyle/>
          <a:p>
            <a:pPr algn="l"/>
            <a:r>
              <a:rPr lang="en-US" b="0" dirty="0">
                <a:solidFill>
                  <a:srgbClr val="DD550C"/>
                </a:solidFill>
                <a:ea typeface="MS PGothic" charset="0"/>
              </a:rPr>
              <a:t>Exercise </a:t>
            </a:r>
            <a:r>
              <a:rPr lang="en-US" altLang="zh-Hans" b="0" dirty="0">
                <a:solidFill>
                  <a:srgbClr val="DD550C"/>
                </a:solidFill>
                <a:ea typeface="MS PGothic" charset="0"/>
              </a:rPr>
              <a:t>3</a:t>
            </a:r>
            <a:r>
              <a:rPr lang="en-US" b="0" dirty="0">
                <a:solidFill>
                  <a:srgbClr val="DD550C"/>
                </a:solidFill>
                <a:ea typeface="MS PGothic" charset="0"/>
              </a:rPr>
              <a:t> (Review): </a:t>
            </a:r>
            <a:r>
              <a:rPr lang="en-US" altLang="zh-Hans" dirty="0"/>
              <a:t>What is the synchronization interval for the fine granularity of parallelism?</a:t>
            </a:r>
            <a:r>
              <a:rPr lang="zh-Hans" altLang="en-US" dirty="0"/>
              <a:t> </a:t>
            </a:r>
            <a:endParaRPr lang="en-US" altLang="en-US" b="0" dirty="0">
              <a:solidFill>
                <a:srgbClr val="03244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625BB-F7B7-2947-AE7E-669A4BE50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2362200"/>
            <a:ext cx="3657600" cy="3657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AC45A1-359A-4821-B89E-CCA35E8C5D56}"/>
              </a:ext>
            </a:extLst>
          </p:cNvPr>
          <p:cNvSpPr txBox="1">
            <a:spLocks/>
          </p:cNvSpPr>
          <p:nvPr/>
        </p:nvSpPr>
        <p:spPr bwMode="auto">
          <a:xfrm>
            <a:off x="1219200" y="2743200"/>
            <a:ext cx="10210800" cy="353750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9pPr>
          </a:lstStyle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b="0" kern="0">
                <a:latin typeface="Calibri" panose="020F0502020204030204" pitchFamily="34" charset="0"/>
                <a:cs typeface="Calibri" panose="020F0502020204030204" pitchFamily="34" charset="0"/>
              </a:rPr>
              <a:t>&lt; 20 instructions</a:t>
            </a:r>
            <a:endParaRPr lang="en-US" altLang="en-US" sz="3600" b="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b="0" kern="0">
                <a:latin typeface="Calibri" panose="020F0502020204030204" pitchFamily="34" charset="0"/>
                <a:cs typeface="Calibri" panose="020F0502020204030204" pitchFamily="34" charset="0"/>
              </a:rPr>
              <a:t>20-200 instructions</a:t>
            </a:r>
            <a:endParaRPr lang="en-US" altLang="en-US" sz="3600" b="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b="0" kern="0">
                <a:latin typeface="Calibri" panose="020F0502020204030204" pitchFamily="34" charset="0"/>
                <a:cs typeface="Calibri" panose="020F0502020204030204" pitchFamily="34" charset="0"/>
              </a:rPr>
              <a:t>200-2000 instructions</a:t>
            </a:r>
            <a:endParaRPr lang="en-US" altLang="en-US" sz="3600" b="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b="0" kern="0">
                <a:latin typeface="Calibri" panose="020F0502020204030204" pitchFamily="34" charset="0"/>
                <a:cs typeface="Calibri" panose="020F0502020204030204" pitchFamily="34" charset="0"/>
              </a:rPr>
              <a:t>2000-1M instructions</a:t>
            </a:r>
            <a:endParaRPr lang="en-US" altLang="en-US" sz="36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09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8686800" cy="4044353"/>
          </a:xfrm>
        </p:spPr>
        <p:txBody>
          <a:bodyPr/>
          <a:lstStyle/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Actual dispatching of a process</a:t>
            </a: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Avoid deadlocks among multiple processors</a:t>
            </a: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Use of multiprogramming on individual processors</a:t>
            </a: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Assignment of processes to processors</a:t>
            </a: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10E054-6EF3-47F2-9179-383ECC240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11201400" cy="1981200"/>
          </a:xfrm>
        </p:spPr>
        <p:txBody>
          <a:bodyPr/>
          <a:lstStyle/>
          <a:p>
            <a:pPr algn="l"/>
            <a:r>
              <a:rPr lang="en-US" b="0" dirty="0">
                <a:solidFill>
                  <a:srgbClr val="DD550C"/>
                </a:solidFill>
                <a:ea typeface="MS PGothic" charset="0"/>
              </a:rPr>
              <a:t>Exercise 4 (Review): </a:t>
            </a:r>
            <a:r>
              <a:rPr lang="en-US" altLang="zh-Hans" dirty="0"/>
              <a:t>Which statement below is </a:t>
            </a:r>
            <a:r>
              <a:rPr lang="en-US" altLang="zh-Hans" u="sng" dirty="0"/>
              <a:t>not</a:t>
            </a:r>
            <a:r>
              <a:rPr lang="en-US" altLang="zh-Hans" dirty="0"/>
              <a:t> a scheduling design issue?</a:t>
            </a:r>
            <a:r>
              <a:rPr lang="zh-Hans" altLang="en-US" dirty="0"/>
              <a:t> </a:t>
            </a:r>
            <a:endParaRPr lang="en-US" altLang="en-US" b="0" dirty="0">
              <a:solidFill>
                <a:srgbClr val="03244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E87C4-F052-4A1C-9FBD-2E84DC715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247" y="2549823"/>
            <a:ext cx="3129953" cy="312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7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6D83E-EED2-485E-8AAE-F7121E2D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1" y="-9144"/>
            <a:ext cx="12373455" cy="69585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29C9B7-4047-4C60-8FA7-624E8388A955}"/>
              </a:ext>
            </a:extLst>
          </p:cNvPr>
          <p:cNvSpPr/>
          <p:nvPr/>
        </p:nvSpPr>
        <p:spPr>
          <a:xfrm>
            <a:off x="634084" y="168890"/>
            <a:ext cx="112014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Exercise 5 (Review): If a scheduler can tell the future CPU workload, then we adopt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48E70-BFB0-42BE-9351-B6929659CB4B}"/>
              </a:ext>
            </a:extLst>
          </p:cNvPr>
          <p:cNvSpPr/>
          <p:nvPr/>
        </p:nvSpPr>
        <p:spPr>
          <a:xfrm>
            <a:off x="470818" y="1600200"/>
            <a:ext cx="5486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l">
              <a:buFont typeface="+mj-lt"/>
              <a:buAutoNum type="alphaUcPeriod"/>
            </a:pPr>
            <a:r>
              <a:rPr lang="en-US" sz="32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Scheduling</a:t>
            </a:r>
          </a:p>
          <a:p>
            <a:pPr marL="742950" indent="-742950" algn="l">
              <a:buFont typeface="+mj-lt"/>
              <a:buAutoNum type="alphaUcPeriod"/>
            </a:pPr>
            <a:r>
              <a:rPr lang="en-US" sz="32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 Scheduling</a:t>
            </a:r>
          </a:p>
          <a:p>
            <a:pPr marL="742950" indent="-742950" algn="l">
              <a:buFont typeface="+mj-lt"/>
              <a:buAutoNum type="alphaUcPeriod"/>
            </a:pPr>
            <a:r>
              <a:rPr lang="en-US" sz="32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Hybrid Scheduling</a:t>
            </a:r>
          </a:p>
          <a:p>
            <a:pPr marL="742950" indent="-742950" algn="l">
              <a:buFont typeface="+mj-lt"/>
              <a:buAutoNum type="alphaUcPeriod"/>
            </a:pPr>
            <a:r>
              <a:rPr lang="en-US" sz="32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Adaptive Scheduling</a:t>
            </a:r>
          </a:p>
        </p:txBody>
      </p:sp>
    </p:spTree>
    <p:extLst>
      <p:ext uri="{BB962C8B-B14F-4D97-AF65-F5344CB8AC3E}">
        <p14:creationId xmlns:p14="http://schemas.microsoft.com/office/powerpoint/2010/main" val="133427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210E054-6EF3-47F2-9179-383ECC240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11125200" cy="1981200"/>
          </a:xfrm>
        </p:spPr>
        <p:txBody>
          <a:bodyPr/>
          <a:lstStyle/>
          <a:p>
            <a:pPr algn="l"/>
            <a:r>
              <a:rPr lang="en-US" b="0" dirty="0">
                <a:solidFill>
                  <a:srgbClr val="DD550C"/>
                </a:solidFill>
                <a:ea typeface="MS PGothic" charset="0"/>
              </a:rPr>
              <a:t>Exercise </a:t>
            </a:r>
            <a:r>
              <a:rPr lang="en-US" altLang="zh-Hans" b="0" dirty="0">
                <a:solidFill>
                  <a:srgbClr val="DD550C"/>
                </a:solidFill>
                <a:ea typeface="MS PGothic" charset="0"/>
              </a:rPr>
              <a:t>6</a:t>
            </a:r>
            <a:r>
              <a:rPr lang="en-US" b="0" dirty="0">
                <a:solidFill>
                  <a:srgbClr val="DD550C"/>
                </a:solidFill>
                <a:ea typeface="MS PGothic" charset="0"/>
              </a:rPr>
              <a:t> (Review): </a:t>
            </a:r>
            <a:r>
              <a:rPr lang="en-US" altLang="zh-Hans" dirty="0"/>
              <a:t>In the PlayStation 3’s Cell processor, what scheduling architecture was employed?</a:t>
            </a:r>
            <a:r>
              <a:rPr lang="zh-Hans" altLang="en-US" dirty="0"/>
              <a:t> </a:t>
            </a:r>
            <a:endParaRPr lang="en-US" altLang="en-US" b="0" dirty="0">
              <a:solidFill>
                <a:srgbClr val="03244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625BB-F7B7-2947-AE7E-669A4BE50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362200"/>
            <a:ext cx="3657600" cy="36576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470001-3540-4272-B95A-B948BFA2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803246"/>
            <a:ext cx="10210800" cy="3537509"/>
          </a:xfrm>
        </p:spPr>
        <p:txBody>
          <a:bodyPr/>
          <a:lstStyle/>
          <a:p>
            <a:pPr marL="742950" indent="-742950">
              <a:spcBef>
                <a:spcPts val="1200"/>
              </a:spcBef>
              <a:spcAft>
                <a:spcPts val="600"/>
              </a:spcAft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Static Architecture</a:t>
            </a: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Distributed Architecture</a:t>
            </a: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Peer-to-Peer Architecture</a:t>
            </a: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Master/Slave Architecture</a:t>
            </a: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28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09800"/>
            <a:ext cx="11201400" cy="4343400"/>
          </a:xfrm>
        </p:spPr>
        <p:txBody>
          <a:bodyPr/>
          <a:lstStyle/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Central queue needs mutual exclusion</a:t>
            </a: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Load is distributed evenly across the processors</a:t>
            </a: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NZ" sz="3600" dirty="0"/>
              <a:t>Processes must be assigned to a particular processor</a:t>
            </a:r>
          </a:p>
          <a:p>
            <a:pPr marL="742950" indent="-742950">
              <a:spcBef>
                <a:spcPts val="1200"/>
              </a:spcBef>
              <a:spcAft>
                <a:spcPts val="600"/>
              </a:spcAft>
              <a:buFontTx/>
              <a:buAutoNum type="alphaUcParenR"/>
            </a:pPr>
            <a:r>
              <a:rPr lang="en-US" altLang="zh-Hans" sz="3600" dirty="0">
                <a:latin typeface="Calibri" panose="020F0502020204030204" pitchFamily="34" charset="0"/>
                <a:cs typeface="Calibri" panose="020F0502020204030204" pitchFamily="34" charset="0"/>
              </a:rPr>
              <a:t>Preemptive threads are unlikely resume execution on the same processor</a:t>
            </a: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10E054-6EF3-47F2-9179-383ECC240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11201400" cy="1676400"/>
          </a:xfrm>
        </p:spPr>
        <p:txBody>
          <a:bodyPr/>
          <a:lstStyle/>
          <a:p>
            <a:pPr algn="l"/>
            <a:r>
              <a:rPr lang="en-US" b="0" dirty="0">
                <a:solidFill>
                  <a:srgbClr val="DD550C"/>
                </a:solidFill>
                <a:ea typeface="MS PGothic" charset="0"/>
              </a:rPr>
              <a:t>Exercise 7 (Review): </a:t>
            </a:r>
            <a:r>
              <a:rPr lang="en-US" altLang="zh-Hans" dirty="0"/>
              <a:t>Which statement about load sharing is </a:t>
            </a:r>
            <a:r>
              <a:rPr lang="en-US" altLang="zh-Hans" u="sng" dirty="0"/>
              <a:t>incorrect</a:t>
            </a:r>
            <a:r>
              <a:rPr lang="en-US" altLang="zh-Hans" dirty="0"/>
              <a:t>? </a:t>
            </a:r>
            <a:endParaRPr lang="en-US" altLang="en-US" b="0" dirty="0">
              <a:solidFill>
                <a:srgbClr val="0324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110798"/>
      </p:ext>
    </p:extLst>
  </p:cSld>
  <p:clrMapOvr>
    <a:masterClrMapping/>
  </p:clrMapOvr>
</p:sld>
</file>

<file path=ppt/theme/theme1.xml><?xml version="1.0" encoding="utf-8"?>
<a:theme xmlns:a="http://schemas.openxmlformats.org/drawingml/2006/main" name="nasa.osma.sas2001">
  <a:themeElements>
    <a:clrScheme name="nasa.osma.sas20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asa.osma.sas20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65" charset="0"/>
          </a:defRPr>
        </a:defPPr>
      </a:lstStyle>
    </a:lnDef>
  </a:objectDefaults>
  <a:extraClrSchemeLst>
    <a:extraClrScheme>
      <a:clrScheme name="nasa.osma.sas20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sa.osma.sas200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C:\cross\papers\NASA.OSMA.SAS'01\nasa.osma.sas2001.ppt</Template>
  <TotalTime>9908</TotalTime>
  <Words>243</Words>
  <Application>Microsoft Office PowerPoint</Application>
  <PresentationFormat>Widescreen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MS PGothic</vt:lpstr>
      <vt:lpstr>Arial</vt:lpstr>
      <vt:lpstr>Calibri</vt:lpstr>
      <vt:lpstr>Times New Roman</vt:lpstr>
      <vt:lpstr>Verdana</vt:lpstr>
      <vt:lpstr>nasa.osma.sas2001</vt:lpstr>
      <vt:lpstr>COMP7500  Advanced Operating Systems</vt:lpstr>
      <vt:lpstr>Review</vt:lpstr>
      <vt:lpstr>Exercise 3 (Review): What is the synchronization interval for the fine granularity of parallelism? </vt:lpstr>
      <vt:lpstr>Exercise 4 (Review): Which statement below is not a scheduling design issue? </vt:lpstr>
      <vt:lpstr>PowerPoint Presentation</vt:lpstr>
      <vt:lpstr>Exercise 6 (Review): In the PlayStation 3’s Cell processor, what scheduling architecture was employed? </vt:lpstr>
      <vt:lpstr>Exercise 7 (Review): Which statement about load sharing is incorrect? </vt:lpstr>
    </vt:vector>
  </TitlesOfParts>
  <Manager/>
  <Company>Auburn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Auburn University CSSE Graduate Student Orientation</dc:title>
  <dc:subject/>
  <dc:creator>Xiao Qin</dc:creator>
  <cp:keywords/>
  <dc:description>Department of Computer Science and Software Engineering</dc:description>
  <cp:lastModifiedBy>Xiao Qin</cp:lastModifiedBy>
  <cp:revision>527</cp:revision>
  <cp:lastPrinted>2010-08-20T15:06:51Z</cp:lastPrinted>
  <dcterms:created xsi:type="dcterms:W3CDTF">2010-08-19T20:24:24Z</dcterms:created>
  <dcterms:modified xsi:type="dcterms:W3CDTF">2025-02-12T14:52:28Z</dcterms:modified>
  <cp:category/>
</cp:coreProperties>
</file>