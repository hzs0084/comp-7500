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572" r:id="rId2"/>
    <p:sldId id="678" r:id="rId3"/>
    <p:sldId id="675" r:id="rId4"/>
    <p:sldId id="679" r:id="rId5"/>
    <p:sldId id="680" r:id="rId6"/>
    <p:sldId id="681" r:id="rId7"/>
    <p:sldId id="669" r:id="rId8"/>
    <p:sldId id="684" r:id="rId9"/>
    <p:sldId id="682" r:id="rId10"/>
    <p:sldId id="683" r:id="rId11"/>
    <p:sldId id="622" r:id="rId12"/>
  </p:sldIdLst>
  <p:sldSz cx="12192000" cy="6858000"/>
  <p:notesSz cx="9296400" cy="7010400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550C"/>
    <a:srgbClr val="03244D"/>
    <a:srgbClr val="496E9C"/>
    <a:srgbClr val="F68026"/>
    <a:srgbClr val="6699FF"/>
    <a:srgbClr val="003399"/>
    <a:srgbClr val="0033CC"/>
    <a:srgbClr val="33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87629" autoAdjust="0"/>
  </p:normalViewPr>
  <p:slideViewPr>
    <p:cSldViewPr>
      <p:cViewPr varScale="1">
        <p:scale>
          <a:sx n="94" d="100"/>
          <a:sy n="94" d="100"/>
        </p:scale>
        <p:origin x="7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9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60"/>
    </p:cViewPr>
  </p:sorterViewPr>
  <p:notesViewPr>
    <p:cSldViewPr>
      <p:cViewPr varScale="1">
        <p:scale>
          <a:sx n="65" d="100"/>
          <a:sy n="65" d="100"/>
        </p:scale>
        <p:origin x="154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algn="l">
              <a:defRPr sz="1100" b="0">
                <a:latin typeface="Times New Roman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960" y="0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>
              <a:defRPr sz="1100" b="0">
                <a:latin typeface="Times New Roman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880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l">
              <a:defRPr sz="1100" b="0">
                <a:latin typeface="Times New Roman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960" y="6659880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>
              <a:defRPr sz="1100" b="0">
                <a:latin typeface="Times New Roman" charset="0"/>
              </a:defRPr>
            </a:lvl1pPr>
          </a:lstStyle>
          <a:p>
            <a:fld id="{64039693-3EF9-9243-B46C-D09A044C582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1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algn="l">
              <a:defRPr sz="1100">
                <a:solidFill>
                  <a:schemeClr val="bg1"/>
                </a:solidFill>
                <a:latin typeface="Verdana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5267960" y="0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  <a:latin typeface="Verdana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12988" y="525463"/>
            <a:ext cx="46736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74" y="3329940"/>
            <a:ext cx="6813056" cy="315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735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9880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l">
              <a:defRPr sz="1100">
                <a:solidFill>
                  <a:schemeClr val="bg1"/>
                </a:solidFill>
                <a:latin typeface="Verdana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5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960" y="6659880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BA95FC9D-A361-0047-A127-CC478746A0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438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8652428" indent="-38186541"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65887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31774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9766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63547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D69666A6-51FC-9E48-90AC-0A20BB3F2D57}" type="slidenum">
              <a:rPr lang="en-US" sz="1100">
                <a:solidFill>
                  <a:schemeClr val="bg1"/>
                </a:solidFill>
              </a:rPr>
              <a:pPr/>
              <a:t>1</a:t>
            </a:fld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1638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12988" y="525463"/>
            <a:ext cx="4673600" cy="2628900"/>
          </a:xfrm>
          <a:ln/>
        </p:spPr>
      </p:sp>
      <p:sp>
        <p:nvSpPr>
          <p:cNvPr id="1638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2020 Spring: 50 Minutes. Slides 1-8</a:t>
            </a:r>
          </a:p>
        </p:txBody>
      </p:sp>
    </p:spTree>
    <p:extLst>
      <p:ext uri="{BB962C8B-B14F-4D97-AF65-F5344CB8AC3E}">
        <p14:creationId xmlns:p14="http://schemas.microsoft.com/office/powerpoint/2010/main" val="257515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block size? 8*128 = 1024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5FC9D-A361-0047-A127-CC478746A0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74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</a:t>
            </a:r>
            <a:r>
              <a:rPr lang="en-US" dirty="0" err="1"/>
              <a:t>mkDirStruct</a:t>
            </a:r>
            <a:r>
              <a:rPr lang="en-US" dirty="0"/>
              <a:t> and </a:t>
            </a:r>
            <a:r>
              <a:rPr lang="en-US" dirty="0" err="1"/>
              <a:t>writeDirStruct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5FC9D-A361-0047-A127-CC478746A0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12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5FC9D-A361-0047-A127-CC478746A0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5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224B6B57-7BA4-4DE1-A618-CA00C332A9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3246955-5243-47B5-B422-9E69973F3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Cont. ch3.ppt, slide 44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70547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540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3244D"/>
                </a:solidFill>
              </a:defRPr>
            </a:lvl1pPr>
            <a:lvl2pPr>
              <a:defRPr>
                <a:solidFill>
                  <a:srgbClr val="03244D"/>
                </a:solidFill>
              </a:defRPr>
            </a:lvl2pPr>
            <a:lvl3pPr>
              <a:defRPr>
                <a:solidFill>
                  <a:srgbClr val="03244D"/>
                </a:solidFill>
              </a:defRPr>
            </a:lvl3pPr>
            <a:lvl4pPr>
              <a:defRPr>
                <a:solidFill>
                  <a:srgbClr val="03244D"/>
                </a:solidFill>
              </a:defRPr>
            </a:lvl4pPr>
            <a:lvl5pPr>
              <a:defRPr>
                <a:solidFill>
                  <a:srgbClr val="03244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5871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338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5689600" cy="5410200"/>
          </a:xfrm>
        </p:spPr>
        <p:txBody>
          <a:bodyPr/>
          <a:lstStyle>
            <a:lvl1pPr>
              <a:defRPr sz="2800">
                <a:solidFill>
                  <a:srgbClr val="03244D"/>
                </a:solidFill>
              </a:defRPr>
            </a:lvl1pPr>
            <a:lvl2pPr>
              <a:defRPr sz="2400">
                <a:solidFill>
                  <a:srgbClr val="03244D"/>
                </a:solidFill>
              </a:defRPr>
            </a:lvl2pPr>
            <a:lvl3pPr>
              <a:defRPr sz="2000">
                <a:solidFill>
                  <a:srgbClr val="03244D"/>
                </a:solidFill>
              </a:defRPr>
            </a:lvl3pPr>
            <a:lvl4pPr>
              <a:defRPr sz="1800">
                <a:solidFill>
                  <a:srgbClr val="03244D"/>
                </a:solidFill>
              </a:defRPr>
            </a:lvl4pPr>
            <a:lvl5pPr>
              <a:defRPr sz="1800">
                <a:solidFill>
                  <a:srgbClr val="03244D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689600" cy="5410200"/>
          </a:xfrm>
        </p:spPr>
        <p:txBody>
          <a:bodyPr/>
          <a:lstStyle>
            <a:lvl1pPr>
              <a:defRPr sz="2800">
                <a:solidFill>
                  <a:srgbClr val="03244D"/>
                </a:solidFill>
              </a:defRPr>
            </a:lvl1pPr>
            <a:lvl2pPr>
              <a:defRPr sz="2400">
                <a:solidFill>
                  <a:srgbClr val="03244D"/>
                </a:solidFill>
              </a:defRPr>
            </a:lvl2pPr>
            <a:lvl3pPr>
              <a:defRPr sz="2000">
                <a:solidFill>
                  <a:srgbClr val="03244D"/>
                </a:solidFill>
              </a:defRPr>
            </a:lvl3pPr>
            <a:lvl4pPr>
              <a:defRPr sz="1800">
                <a:solidFill>
                  <a:srgbClr val="03244D"/>
                </a:solidFill>
              </a:defRPr>
            </a:lvl4pPr>
            <a:lvl5pPr>
              <a:defRPr sz="1800">
                <a:solidFill>
                  <a:srgbClr val="03244D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1891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 b="0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3244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solidFill>
                  <a:srgbClr val="03244D"/>
                </a:solidFill>
              </a:defRPr>
            </a:lvl1pPr>
            <a:lvl2pPr>
              <a:defRPr sz="2000">
                <a:solidFill>
                  <a:srgbClr val="03244D"/>
                </a:solidFill>
              </a:defRPr>
            </a:lvl2pPr>
            <a:lvl3pPr>
              <a:defRPr sz="1800">
                <a:solidFill>
                  <a:srgbClr val="03244D"/>
                </a:solidFill>
              </a:defRPr>
            </a:lvl3pPr>
            <a:lvl4pPr>
              <a:defRPr sz="1600">
                <a:solidFill>
                  <a:srgbClr val="03244D"/>
                </a:solidFill>
              </a:defRPr>
            </a:lvl4pPr>
            <a:lvl5pPr>
              <a:defRPr sz="1600">
                <a:solidFill>
                  <a:srgbClr val="03244D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3244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rgbClr val="03244D"/>
                </a:solidFill>
              </a:defRPr>
            </a:lvl1pPr>
            <a:lvl2pPr>
              <a:defRPr sz="2000">
                <a:solidFill>
                  <a:srgbClr val="03244D"/>
                </a:solidFill>
              </a:defRPr>
            </a:lvl2pPr>
            <a:lvl3pPr>
              <a:defRPr sz="1800">
                <a:solidFill>
                  <a:srgbClr val="03244D"/>
                </a:solidFill>
              </a:defRPr>
            </a:lvl3pPr>
            <a:lvl4pPr>
              <a:defRPr sz="1600">
                <a:solidFill>
                  <a:srgbClr val="03244D"/>
                </a:solidFill>
              </a:defRPr>
            </a:lvl4pPr>
            <a:lvl5pPr>
              <a:defRPr sz="1600">
                <a:solidFill>
                  <a:srgbClr val="03244D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6993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160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72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rgbClr val="03244D"/>
                </a:solidFill>
              </a:defRPr>
            </a:lvl1pPr>
            <a:lvl2pPr>
              <a:defRPr sz="2800">
                <a:solidFill>
                  <a:srgbClr val="03244D"/>
                </a:solidFill>
              </a:defRPr>
            </a:lvl2pPr>
            <a:lvl3pPr>
              <a:defRPr sz="2400">
                <a:solidFill>
                  <a:srgbClr val="03244D"/>
                </a:solidFill>
              </a:defRPr>
            </a:lvl3pPr>
            <a:lvl4pPr>
              <a:defRPr sz="2000">
                <a:solidFill>
                  <a:srgbClr val="03244D"/>
                </a:solidFill>
              </a:defRPr>
            </a:lvl4pPr>
            <a:lvl5pPr>
              <a:defRPr sz="2000">
                <a:solidFill>
                  <a:srgbClr val="03244D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047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rgbClr val="0324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rgbClr val="03244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852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275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152400"/>
            <a:ext cx="28956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836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828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381000"/>
            <a:ext cx="11087100" cy="838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1" y="1247776"/>
            <a:ext cx="11087100" cy="522922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0" y="6477000"/>
            <a:ext cx="12192000" cy="381000"/>
          </a:xfrm>
          <a:prstGeom prst="rect">
            <a:avLst/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000" dirty="0">
                <a:solidFill>
                  <a:schemeClr val="bg1"/>
                </a:solidFill>
              </a:rPr>
              <a:t>COMP 7500 Advanced Operating Systems - </a:t>
            </a:r>
            <a:fld id="{9C7CF1EC-0219-8349-AAE4-AC62B66AA0BE}" type="slidenum">
              <a:rPr lang="en-US" sz="1000" smtClean="0">
                <a:solidFill>
                  <a:schemeClr val="bg1"/>
                </a:solidFill>
              </a:rPr>
              <a:pPr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0" y="0"/>
            <a:ext cx="12192000" cy="152400"/>
          </a:xfrm>
          <a:prstGeom prst="rect">
            <a:avLst/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400">
              <a:latin typeface="Verdana" pitchFamily="-112" charset="0"/>
              <a:ea typeface="+mn-ea"/>
              <a:cs typeface="+mn-cs"/>
            </a:endParaRPr>
          </a:p>
        </p:txBody>
      </p:sp>
      <p:pic>
        <p:nvPicPr>
          <p:cNvPr id="1030" name="Picture 13" descr="cse_logo_blu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505576"/>
            <a:ext cx="5715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Image result for auburn university college of engineering">
            <a:extLst>
              <a:ext uri="{FF2B5EF4-FFF2-40B4-BE49-F238E27FC236}">
                <a16:creationId xmlns:a16="http://schemas.microsoft.com/office/drawing/2014/main" id="{505A58AC-2344-4FB3-94E3-796BC04C2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731" y="5264077"/>
            <a:ext cx="1455506" cy="121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Calibri" charset="0"/>
          <a:ea typeface="Calibri" charset="0"/>
          <a:cs typeface="Calibri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-65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-65" charset="0"/>
          <a:ea typeface="ＭＳ Ｐゴシック" pitchFamily="-65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-65" charset="0"/>
          <a:ea typeface="ＭＳ Ｐゴシック" pitchFamily="-65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-65" charset="0"/>
          <a:ea typeface="ＭＳ Ｐゴシック" pitchFamily="-65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-65" charset="0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image" Target="../media/image5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419600" y="304800"/>
            <a:ext cx="7086600" cy="1743075"/>
          </a:xfrm>
        </p:spPr>
        <p:txBody>
          <a:bodyPr/>
          <a:lstStyle/>
          <a:p>
            <a:r>
              <a:rPr lang="en-US" dirty="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rPr>
              <a:t>COMP 7500 </a:t>
            </a:r>
            <a:br>
              <a:rPr lang="en-US" dirty="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n-US" dirty="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rPr>
              <a:t>Advanced Operating Systems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105400" y="4191000"/>
            <a:ext cx="5907881" cy="1981200"/>
          </a:xfrm>
          <a:noFill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3244D"/>
                </a:solidFill>
                <a:latin typeface="Calibri" pitchFamily="34" charset="0"/>
                <a:ea typeface="SimSun" pitchFamily="2" charset="-122"/>
              </a:rPr>
              <a:t>Xiao Qin</a:t>
            </a:r>
          </a:p>
          <a:p>
            <a:pPr>
              <a:spcBef>
                <a:spcPct val="50000"/>
              </a:spcBef>
            </a:pPr>
            <a:r>
              <a:rPr kumimoji="1" lang="en-US" altLang="en-US" sz="2400" i="1" dirty="0">
                <a:solidFill>
                  <a:srgbClr val="03244D"/>
                </a:solidFill>
                <a:latin typeface="Calibri" pitchFamily="34" charset="0"/>
              </a:rPr>
              <a:t>Auburn University</a:t>
            </a:r>
            <a:br>
              <a:rPr kumimoji="1" lang="en-US" altLang="en-US" sz="2400" i="1" dirty="0">
                <a:solidFill>
                  <a:srgbClr val="03244D"/>
                </a:solidFill>
                <a:latin typeface="Calibri" pitchFamily="34" charset="0"/>
              </a:rPr>
            </a:br>
            <a:r>
              <a:rPr kumimoji="1" lang="en-US" altLang="en-US" sz="2400" i="1" dirty="0">
                <a:solidFill>
                  <a:srgbClr val="03244D"/>
                </a:solidFill>
                <a:latin typeface="Calibri" pitchFamily="34" charset="0"/>
              </a:rPr>
              <a:t>http://www.eng.auburn.edu/~xqin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kumimoji="1" lang="en-US" altLang="en-US" sz="2400" i="1" dirty="0">
                <a:solidFill>
                  <a:srgbClr val="03244D"/>
                </a:solidFill>
                <a:latin typeface="Calibri" pitchFamily="34" charset="0"/>
              </a:rPr>
              <a:t>xqin@auburn.edu</a:t>
            </a:r>
            <a:endParaRPr lang="en-US" sz="2400" dirty="0">
              <a:solidFill>
                <a:srgbClr val="03244D"/>
              </a:solidFill>
            </a:endParaRPr>
          </a:p>
        </p:txBody>
      </p:sp>
      <p:pic>
        <p:nvPicPr>
          <p:cNvPr id="15364" name="Picture 8" descr="SGCOE V 158 2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1"/>
            <a:ext cx="381000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04BCC92-66D4-40D6-BBFE-A3DDF3E50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2219325"/>
            <a:ext cx="7543800" cy="174307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Calibri" charset="0"/>
                <a:ea typeface="Calibri" charset="0"/>
                <a:cs typeface="Calibri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9pPr>
          </a:lstStyle>
          <a:p>
            <a:r>
              <a:rPr lang="en-US" b="0" kern="0" dirty="0">
                <a:solidFill>
                  <a:srgbClr val="03244D"/>
                </a:solidFill>
              </a:rPr>
              <a:t>Lecture 33</a:t>
            </a:r>
          </a:p>
          <a:p>
            <a:r>
              <a:rPr lang="en-US" b="0" kern="0" dirty="0" err="1">
                <a:solidFill>
                  <a:srgbClr val="03244D"/>
                </a:solidFill>
              </a:rPr>
              <a:t>cpmFS</a:t>
            </a:r>
            <a:r>
              <a:rPr lang="en-US" b="0" kern="0" dirty="0">
                <a:solidFill>
                  <a:srgbClr val="03244D"/>
                </a:solidFill>
              </a:rPr>
              <a:t>: Design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32448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1C3D-B4CD-4E4B-A273-3810D266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D550C"/>
                </a:solidFill>
              </a:rPr>
              <a:t>Review:</a:t>
            </a:r>
            <a:r>
              <a:rPr lang="en-US" dirty="0"/>
              <a:t> Disk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69E75-4931-4D42-9E6B-F6F7CF736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91800" cy="2831812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DD550C"/>
                </a:solidFill>
              </a:rPr>
              <a:t>Exercise 1: </a:t>
            </a:r>
            <a:r>
              <a:rPr lang="en-US" sz="3600" dirty="0"/>
              <a:t>Given a file, let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NB</a:t>
            </a:r>
            <a:r>
              <a:rPr lang="en-US" sz="3600" dirty="0"/>
              <a:t> be the number of 1024-byte blocks,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3600" dirty="0"/>
              <a:t> be the number of 128-byte sectors in last partially filled block, and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BC</a:t>
            </a:r>
            <a:r>
              <a:rPr lang="en-US" sz="3600" dirty="0"/>
              <a:t> be the number of bytes in the last partially filled sector. What is the length of this file?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B043F-9166-2043-BD30-2567C1F60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731141"/>
            <a:ext cx="1447800" cy="1446550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</a:p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B2435-54E8-9247-9E09-E2314628D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731140"/>
            <a:ext cx="2362200" cy="1446550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Blocks</a:t>
            </a:r>
          </a:p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[0</a:t>
            </a:r>
            <a:r>
              <a:rPr lang="en-US" sz="44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255]</a:t>
            </a:r>
            <a:endParaRPr lang="en-US" sz="4400" b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4ABC2-3FD9-2B40-A736-DABA764E1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733400"/>
            <a:ext cx="2362200" cy="1446550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Sectors</a:t>
            </a:r>
          </a:p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[1, 8]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FEDAA-6DCE-A44F-AE71-54D130B64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1741438"/>
            <a:ext cx="2362200" cy="1446550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Bytes</a:t>
            </a:r>
          </a:p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[1, </a:t>
            </a: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128]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F7B26930-E273-E245-B04B-3226D43CF505}"/>
              </a:ext>
            </a:extLst>
          </p:cNvPr>
          <p:cNvSpPr/>
          <p:nvPr/>
        </p:nvSpPr>
        <p:spPr bwMode="auto">
          <a:xfrm>
            <a:off x="2362200" y="1752600"/>
            <a:ext cx="533400" cy="1359188"/>
          </a:xfrm>
          <a:prstGeom prst="leftBrace">
            <a:avLst/>
          </a:prstGeom>
          <a:noFill/>
          <a:ln w="38100" cap="flat" cmpd="sng" algn="ctr">
            <a:solidFill>
              <a:srgbClr val="03244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DDC61EEE-0339-264D-BF4B-1497139F6BC7}"/>
              </a:ext>
            </a:extLst>
          </p:cNvPr>
          <p:cNvSpPr/>
          <p:nvPr/>
        </p:nvSpPr>
        <p:spPr bwMode="auto">
          <a:xfrm>
            <a:off x="5388769" y="1752600"/>
            <a:ext cx="533400" cy="1359188"/>
          </a:xfrm>
          <a:prstGeom prst="leftBrace">
            <a:avLst/>
          </a:prstGeom>
          <a:noFill/>
          <a:ln w="38100" cap="flat" cmpd="sng" algn="ctr">
            <a:solidFill>
              <a:srgbClr val="03244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8FDFDAA-FA35-E74E-9BFD-6DFB3C99712D}"/>
              </a:ext>
            </a:extLst>
          </p:cNvPr>
          <p:cNvSpPr/>
          <p:nvPr/>
        </p:nvSpPr>
        <p:spPr bwMode="auto">
          <a:xfrm>
            <a:off x="8497491" y="1765756"/>
            <a:ext cx="533400" cy="1359188"/>
          </a:xfrm>
          <a:prstGeom prst="leftBrace">
            <a:avLst/>
          </a:prstGeom>
          <a:noFill/>
          <a:ln w="38100" cap="flat" cmpd="sng" algn="ctr">
            <a:solidFill>
              <a:srgbClr val="03244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79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C05654-6BEC-0543-BC95-8372F82BD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81400"/>
            <a:ext cx="11734800" cy="22126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2BC1E9-8F3E-2749-8D19-18AD1791A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533400"/>
            <a:ext cx="10464800" cy="284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3E093B-8AB3-464D-A065-211F8D78D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1" y="3463706"/>
            <a:ext cx="10830059" cy="265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7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 1">
            <a:extLst>
              <a:ext uri="{FF2B5EF4-FFF2-40B4-BE49-F238E27FC236}">
                <a16:creationId xmlns:a16="http://schemas.microsoft.com/office/drawing/2014/main" id="{E2570237-4716-FB41-A773-BEBB52201BA2}"/>
              </a:ext>
            </a:extLst>
          </p:cNvPr>
          <p:cNvSpPr/>
          <p:nvPr/>
        </p:nvSpPr>
        <p:spPr bwMode="auto">
          <a:xfrm>
            <a:off x="8782050" y="1295400"/>
            <a:ext cx="2343150" cy="3962400"/>
          </a:xfrm>
          <a:prstGeom prst="can">
            <a:avLst/>
          </a:prstGeom>
          <a:noFill/>
          <a:ln w="38100" cap="flat" cmpd="sng" algn="ctr">
            <a:solidFill>
              <a:srgbClr val="03244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7AA3C-A6B6-D34E-B1EA-3AB960EFD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3025" y="2116996"/>
            <a:ext cx="1981200" cy="76944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779C9-0BC0-724D-9224-908051B428BD}"/>
              </a:ext>
            </a:extLst>
          </p:cNvPr>
          <p:cNvSpPr/>
          <p:nvPr/>
        </p:nvSpPr>
        <p:spPr bwMode="auto">
          <a:xfrm>
            <a:off x="4191000" y="1295400"/>
            <a:ext cx="2476500" cy="3962400"/>
          </a:xfrm>
          <a:prstGeom prst="rect">
            <a:avLst/>
          </a:prstGeom>
          <a:solidFill>
            <a:srgbClr val="03244D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F15A5-1733-3D45-8175-7228C5709237}"/>
              </a:ext>
            </a:extLst>
          </p:cNvPr>
          <p:cNvSpPr/>
          <p:nvPr/>
        </p:nvSpPr>
        <p:spPr>
          <a:xfrm>
            <a:off x="2933700" y="520516"/>
            <a:ext cx="5257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4400" b="0" dirty="0" err="1">
                <a:solidFill>
                  <a:srgbClr val="0324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cpmFS</a:t>
            </a:r>
            <a:r>
              <a:rPr lang="en-US" sz="4400" b="0" dirty="0">
                <a:solidFill>
                  <a:srgbClr val="0324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Main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663EB9-3D18-4B43-9F73-4F16BC8F1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116995"/>
            <a:ext cx="1981200" cy="76944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CEA3B4-7766-A84B-A8FB-F8EDCB910BC9}"/>
              </a:ext>
            </a:extLst>
          </p:cNvPr>
          <p:cNvCxnSpPr>
            <a:cxnSpLocks/>
            <a:stCxn id="4" idx="1"/>
            <a:endCxn id="9" idx="3"/>
          </p:cNvCxnSpPr>
          <p:nvPr/>
        </p:nvCxnSpPr>
        <p:spPr bwMode="auto">
          <a:xfrm flipH="1" flipV="1">
            <a:off x="6400800" y="2501716"/>
            <a:ext cx="2562225" cy="1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0BC5328-D21B-614D-8EFA-ECA22C0B6E91}"/>
              </a:ext>
            </a:extLst>
          </p:cNvPr>
          <p:cNvSpPr txBox="1"/>
          <p:nvPr/>
        </p:nvSpPr>
        <p:spPr>
          <a:xfrm>
            <a:off x="6545036" y="1847690"/>
            <a:ext cx="2327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1C392F-5C27-C745-B422-55F3F9D70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20" y="3124200"/>
            <a:ext cx="1981200" cy="64633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3600" b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DirStruct</a:t>
            </a:r>
            <a:endParaRPr lang="en-US" sz="3600" b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F04D5B-F345-C044-BF84-F430EA2D417A}"/>
              </a:ext>
            </a:extLst>
          </p:cNvPr>
          <p:cNvCxnSpPr>
            <a:cxnSpLocks/>
          </p:cNvCxnSpPr>
          <p:nvPr/>
        </p:nvCxnSpPr>
        <p:spPr bwMode="auto">
          <a:xfrm>
            <a:off x="3095625" y="1514119"/>
            <a:ext cx="1335541" cy="626369"/>
          </a:xfrm>
          <a:prstGeom prst="straightConnector1">
            <a:avLst/>
          </a:prstGeom>
          <a:noFill/>
          <a:ln w="762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F94039E-8404-684D-81B9-B1B1143C5FB8}"/>
              </a:ext>
            </a:extLst>
          </p:cNvPr>
          <p:cNvSpPr txBox="1"/>
          <p:nvPr/>
        </p:nvSpPr>
        <p:spPr>
          <a:xfrm>
            <a:off x="1657860" y="1107158"/>
            <a:ext cx="182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Pointer 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BEB128-BA24-AD4C-8AE5-E5BEBF4D1DA5}"/>
              </a:ext>
            </a:extLst>
          </p:cNvPr>
          <p:cNvCxnSpPr>
            <a:cxnSpLocks/>
          </p:cNvCxnSpPr>
          <p:nvPr/>
        </p:nvCxnSpPr>
        <p:spPr bwMode="auto">
          <a:xfrm>
            <a:off x="642300" y="2140488"/>
            <a:ext cx="224220" cy="983712"/>
          </a:xfrm>
          <a:prstGeom prst="straightConnector1">
            <a:avLst/>
          </a:prstGeom>
          <a:noFill/>
          <a:ln w="762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0C1D465-7244-CD44-9B18-3F011C9B7833}"/>
              </a:ext>
            </a:extLst>
          </p:cNvPr>
          <p:cNvSpPr txBox="1"/>
          <p:nvPr/>
        </p:nvSpPr>
        <p:spPr>
          <a:xfrm>
            <a:off x="209550" y="1756581"/>
            <a:ext cx="182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Pointer 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6F8E5D-94E3-3943-9414-D1C935E6A5A5}"/>
              </a:ext>
            </a:extLst>
          </p:cNvPr>
          <p:cNvCxnSpPr>
            <a:cxnSpLocks/>
          </p:cNvCxnSpPr>
          <p:nvPr/>
        </p:nvCxnSpPr>
        <p:spPr bwMode="auto">
          <a:xfrm flipH="1">
            <a:off x="2847720" y="2438400"/>
            <a:ext cx="1571882" cy="933905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CC87859-EBB8-B646-B93D-6479A445CCF3}"/>
              </a:ext>
            </a:extLst>
          </p:cNvPr>
          <p:cNvSpPr txBox="1"/>
          <p:nvPr/>
        </p:nvSpPr>
        <p:spPr>
          <a:xfrm>
            <a:off x="1095120" y="2438400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44E72E-2223-034D-A753-8C741BD912A0}"/>
              </a:ext>
            </a:extLst>
          </p:cNvPr>
          <p:cNvCxnSpPr>
            <a:cxnSpLocks/>
          </p:cNvCxnSpPr>
          <p:nvPr/>
        </p:nvCxnSpPr>
        <p:spPr bwMode="auto">
          <a:xfrm flipV="1">
            <a:off x="2825820" y="2802655"/>
            <a:ext cx="1605346" cy="939925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BD7F111-13FF-0340-9AF6-2D3407207F8A}"/>
              </a:ext>
            </a:extLst>
          </p:cNvPr>
          <p:cNvSpPr txBox="1"/>
          <p:nvPr/>
        </p:nvSpPr>
        <p:spPr>
          <a:xfrm>
            <a:off x="3102386" y="3505727"/>
            <a:ext cx="3565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WriteDirStruct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1F58059-156B-C944-8452-4AE8A0ACF6EE}"/>
              </a:ext>
            </a:extLst>
          </p:cNvPr>
          <p:cNvSpPr txBox="1">
            <a:spLocks/>
          </p:cNvSpPr>
          <p:nvPr/>
        </p:nvSpPr>
        <p:spPr>
          <a:xfrm>
            <a:off x="674957" y="5257518"/>
            <a:ext cx="10734675" cy="12063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9pPr>
          </a:lstStyle>
          <a:p>
            <a:pPr marL="0" indent="0">
              <a:buFontTx/>
              <a:buNone/>
            </a:pPr>
            <a:r>
              <a:rPr lang="en-US" b="0" kern="0" dirty="0">
                <a:solidFill>
                  <a:srgbClr val="DD550C"/>
                </a:solidFill>
              </a:rPr>
              <a:t>Exercise 2: </a:t>
            </a:r>
            <a:r>
              <a:rPr lang="en-US" b="0" kern="0" dirty="0"/>
              <a:t>How to copy 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BC</a:t>
            </a:r>
            <a:r>
              <a:rPr lang="en-US" b="0" kern="0" dirty="0"/>
              <a:t> of extent referred by 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b="0" kern="0" dirty="0"/>
              <a:t> from 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block 0</a:t>
            </a:r>
            <a:r>
              <a:rPr lang="en-US" b="0" kern="0" dirty="0"/>
              <a:t> pointed by 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b="0" kern="0" dirty="0"/>
              <a:t> to the </a:t>
            </a:r>
            <a:r>
              <a:rPr lang="en-US" b="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DirStruct</a:t>
            </a:r>
            <a:r>
              <a:rPr lang="en-US" b="0" kern="0" dirty="0"/>
              <a:t> pointed by 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b="0" kern="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81669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  <p:bldP spid="14" grpId="0" animBg="1"/>
      <p:bldP spid="19" grpId="0"/>
      <p:bldP spid="23" grpId="0"/>
      <p:bldP spid="27" grpId="0"/>
      <p:bldP spid="31" grpId="0"/>
      <p:bldP spid="3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 1">
            <a:extLst>
              <a:ext uri="{FF2B5EF4-FFF2-40B4-BE49-F238E27FC236}">
                <a16:creationId xmlns:a16="http://schemas.microsoft.com/office/drawing/2014/main" id="{E2570237-4716-FB41-A773-BEBB52201BA2}"/>
              </a:ext>
            </a:extLst>
          </p:cNvPr>
          <p:cNvSpPr/>
          <p:nvPr/>
        </p:nvSpPr>
        <p:spPr bwMode="auto">
          <a:xfrm>
            <a:off x="8782050" y="1295400"/>
            <a:ext cx="2343150" cy="3962400"/>
          </a:xfrm>
          <a:prstGeom prst="can">
            <a:avLst/>
          </a:prstGeom>
          <a:noFill/>
          <a:ln w="38100" cap="flat" cmpd="sng" algn="ctr">
            <a:solidFill>
              <a:srgbClr val="03244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7AA3C-A6B6-D34E-B1EA-3AB960EFD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3025" y="2116996"/>
            <a:ext cx="1981200" cy="76944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779C9-0BC0-724D-9224-908051B428BD}"/>
              </a:ext>
            </a:extLst>
          </p:cNvPr>
          <p:cNvSpPr/>
          <p:nvPr/>
        </p:nvSpPr>
        <p:spPr bwMode="auto">
          <a:xfrm>
            <a:off x="4191000" y="1295400"/>
            <a:ext cx="2476500" cy="3962400"/>
          </a:xfrm>
          <a:prstGeom prst="rect">
            <a:avLst/>
          </a:prstGeom>
          <a:solidFill>
            <a:srgbClr val="03244D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F15A5-1733-3D45-8175-7228C5709237}"/>
              </a:ext>
            </a:extLst>
          </p:cNvPr>
          <p:cNvSpPr/>
          <p:nvPr/>
        </p:nvSpPr>
        <p:spPr>
          <a:xfrm>
            <a:off x="2933700" y="520516"/>
            <a:ext cx="5257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4400" b="0" dirty="0" err="1">
                <a:solidFill>
                  <a:srgbClr val="0324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cpmFS</a:t>
            </a:r>
            <a:r>
              <a:rPr lang="en-US" sz="4400" b="0" dirty="0">
                <a:solidFill>
                  <a:srgbClr val="0324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Main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663EB9-3D18-4B43-9F73-4F16BC8F1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116995"/>
            <a:ext cx="1981200" cy="76944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CEA3B4-7766-A84B-A8FB-F8EDCB910BC9}"/>
              </a:ext>
            </a:extLst>
          </p:cNvPr>
          <p:cNvCxnSpPr>
            <a:cxnSpLocks/>
            <a:stCxn id="4" idx="1"/>
            <a:endCxn id="9" idx="3"/>
          </p:cNvCxnSpPr>
          <p:nvPr/>
        </p:nvCxnSpPr>
        <p:spPr bwMode="auto">
          <a:xfrm flipH="1" flipV="1">
            <a:off x="6400800" y="2501716"/>
            <a:ext cx="2562225" cy="1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0BC5328-D21B-614D-8EFA-ECA22C0B6E91}"/>
              </a:ext>
            </a:extLst>
          </p:cNvPr>
          <p:cNvSpPr txBox="1"/>
          <p:nvPr/>
        </p:nvSpPr>
        <p:spPr>
          <a:xfrm>
            <a:off x="6545036" y="1847690"/>
            <a:ext cx="2327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1C392F-5C27-C745-B422-55F3F9D70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20" y="3124200"/>
            <a:ext cx="1981200" cy="64633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3600" b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DirStruct</a:t>
            </a:r>
            <a:endParaRPr lang="en-US" sz="3600" b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F04D5B-F345-C044-BF84-F430EA2D417A}"/>
              </a:ext>
            </a:extLst>
          </p:cNvPr>
          <p:cNvCxnSpPr>
            <a:cxnSpLocks/>
          </p:cNvCxnSpPr>
          <p:nvPr/>
        </p:nvCxnSpPr>
        <p:spPr bwMode="auto">
          <a:xfrm>
            <a:off x="3095625" y="1514119"/>
            <a:ext cx="1335541" cy="626369"/>
          </a:xfrm>
          <a:prstGeom prst="straightConnector1">
            <a:avLst/>
          </a:prstGeom>
          <a:noFill/>
          <a:ln w="762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F94039E-8404-684D-81B9-B1B1143C5FB8}"/>
              </a:ext>
            </a:extLst>
          </p:cNvPr>
          <p:cNvSpPr txBox="1"/>
          <p:nvPr/>
        </p:nvSpPr>
        <p:spPr>
          <a:xfrm>
            <a:off x="1657860" y="1107158"/>
            <a:ext cx="182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Pointer 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BEB128-BA24-AD4C-8AE5-E5BEBF4D1DA5}"/>
              </a:ext>
            </a:extLst>
          </p:cNvPr>
          <p:cNvCxnSpPr>
            <a:cxnSpLocks/>
          </p:cNvCxnSpPr>
          <p:nvPr/>
        </p:nvCxnSpPr>
        <p:spPr bwMode="auto">
          <a:xfrm>
            <a:off x="642300" y="2140488"/>
            <a:ext cx="224220" cy="983712"/>
          </a:xfrm>
          <a:prstGeom prst="straightConnector1">
            <a:avLst/>
          </a:prstGeom>
          <a:noFill/>
          <a:ln w="762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0C1D465-7244-CD44-9B18-3F011C9B7833}"/>
              </a:ext>
            </a:extLst>
          </p:cNvPr>
          <p:cNvSpPr txBox="1"/>
          <p:nvPr/>
        </p:nvSpPr>
        <p:spPr>
          <a:xfrm>
            <a:off x="209550" y="1756581"/>
            <a:ext cx="182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Pointer 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6F8E5D-94E3-3943-9414-D1C935E6A5A5}"/>
              </a:ext>
            </a:extLst>
          </p:cNvPr>
          <p:cNvCxnSpPr>
            <a:cxnSpLocks/>
          </p:cNvCxnSpPr>
          <p:nvPr/>
        </p:nvCxnSpPr>
        <p:spPr bwMode="auto">
          <a:xfrm flipH="1">
            <a:off x="2847720" y="2438400"/>
            <a:ext cx="1571882" cy="933905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CC87859-EBB8-B646-B93D-6479A445CCF3}"/>
              </a:ext>
            </a:extLst>
          </p:cNvPr>
          <p:cNvSpPr txBox="1"/>
          <p:nvPr/>
        </p:nvSpPr>
        <p:spPr>
          <a:xfrm>
            <a:off x="1095120" y="2438400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44E72E-2223-034D-A753-8C741BD912A0}"/>
              </a:ext>
            </a:extLst>
          </p:cNvPr>
          <p:cNvCxnSpPr>
            <a:cxnSpLocks/>
          </p:cNvCxnSpPr>
          <p:nvPr/>
        </p:nvCxnSpPr>
        <p:spPr bwMode="auto">
          <a:xfrm flipV="1">
            <a:off x="2825820" y="2802655"/>
            <a:ext cx="1605346" cy="939925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BD7F111-13FF-0340-9AF6-2D3407207F8A}"/>
              </a:ext>
            </a:extLst>
          </p:cNvPr>
          <p:cNvSpPr txBox="1"/>
          <p:nvPr/>
        </p:nvSpPr>
        <p:spPr>
          <a:xfrm>
            <a:off x="3102386" y="3505727"/>
            <a:ext cx="3565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WriteDirStruct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1F58059-156B-C944-8452-4AE8A0ACF6EE}"/>
              </a:ext>
            </a:extLst>
          </p:cNvPr>
          <p:cNvSpPr txBox="1">
            <a:spLocks/>
          </p:cNvSpPr>
          <p:nvPr/>
        </p:nvSpPr>
        <p:spPr>
          <a:xfrm>
            <a:off x="209550" y="5257518"/>
            <a:ext cx="11982449" cy="12063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9pPr>
          </a:lstStyle>
          <a:p>
            <a:pPr marL="0" indent="0">
              <a:buFontTx/>
              <a:buNone/>
            </a:pPr>
            <a:r>
              <a:rPr lang="en-US" b="0" kern="0" dirty="0">
                <a:solidFill>
                  <a:srgbClr val="DD550C"/>
                </a:solidFill>
              </a:rPr>
              <a:t>Exercise 3: </a:t>
            </a:r>
            <a:r>
              <a:rPr lang="en-US" b="0" kern="0" dirty="0"/>
              <a:t>How to copy 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BC</a:t>
            </a:r>
            <a:r>
              <a:rPr lang="en-US" b="0" kern="0" dirty="0"/>
              <a:t> of </a:t>
            </a:r>
            <a:r>
              <a:rPr lang="en-US" b="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DirStruct</a:t>
            </a:r>
            <a:r>
              <a:rPr lang="en-US" b="0" kern="0" dirty="0"/>
              <a:t> pointed by 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d </a:t>
            </a:r>
            <a:r>
              <a:rPr lang="en-US" b="0" kern="0" dirty="0"/>
              <a:t>into  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block 0</a:t>
            </a:r>
            <a:r>
              <a:rPr lang="en-US" b="0" kern="0" dirty="0"/>
              <a:t> pointed by 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e? </a:t>
            </a:r>
            <a:r>
              <a:rPr lang="en-US" b="0" kern="0" dirty="0"/>
              <a:t>Note: extent in block 0 is referred by 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endParaRPr lang="en-US" b="0" kern="0" dirty="0"/>
          </a:p>
        </p:txBody>
      </p:sp>
    </p:spTree>
    <p:extLst>
      <p:ext uri="{BB962C8B-B14F-4D97-AF65-F5344CB8AC3E}">
        <p14:creationId xmlns:p14="http://schemas.microsoft.com/office/powerpoint/2010/main" val="2338758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 1">
            <a:extLst>
              <a:ext uri="{FF2B5EF4-FFF2-40B4-BE49-F238E27FC236}">
                <a16:creationId xmlns:a16="http://schemas.microsoft.com/office/drawing/2014/main" id="{E2570237-4716-FB41-A773-BEBB52201BA2}"/>
              </a:ext>
            </a:extLst>
          </p:cNvPr>
          <p:cNvSpPr/>
          <p:nvPr/>
        </p:nvSpPr>
        <p:spPr bwMode="auto">
          <a:xfrm>
            <a:off x="8782050" y="1295400"/>
            <a:ext cx="2343150" cy="3962400"/>
          </a:xfrm>
          <a:prstGeom prst="can">
            <a:avLst/>
          </a:prstGeom>
          <a:noFill/>
          <a:ln w="38100" cap="flat" cmpd="sng" algn="ctr">
            <a:solidFill>
              <a:srgbClr val="03244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7AA3C-A6B6-D34E-B1EA-3AB960EFD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3025" y="2116996"/>
            <a:ext cx="1981200" cy="76944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779C9-0BC0-724D-9224-908051B428BD}"/>
              </a:ext>
            </a:extLst>
          </p:cNvPr>
          <p:cNvSpPr/>
          <p:nvPr/>
        </p:nvSpPr>
        <p:spPr bwMode="auto">
          <a:xfrm>
            <a:off x="4191000" y="1295400"/>
            <a:ext cx="2476500" cy="3962400"/>
          </a:xfrm>
          <a:prstGeom prst="rect">
            <a:avLst/>
          </a:prstGeom>
          <a:solidFill>
            <a:srgbClr val="03244D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F15A5-1733-3D45-8175-7228C5709237}"/>
              </a:ext>
            </a:extLst>
          </p:cNvPr>
          <p:cNvSpPr/>
          <p:nvPr/>
        </p:nvSpPr>
        <p:spPr>
          <a:xfrm>
            <a:off x="2933700" y="520516"/>
            <a:ext cx="5257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4400" b="0" dirty="0" err="1">
                <a:solidFill>
                  <a:srgbClr val="0324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cpmFS</a:t>
            </a:r>
            <a:r>
              <a:rPr lang="en-US" sz="4400" b="0" dirty="0">
                <a:solidFill>
                  <a:srgbClr val="0324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Main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663EB9-3D18-4B43-9F73-4F16BC8F1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116995"/>
            <a:ext cx="1981200" cy="76944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CEA3B4-7766-A84B-A8FB-F8EDCB910BC9}"/>
              </a:ext>
            </a:extLst>
          </p:cNvPr>
          <p:cNvCxnSpPr>
            <a:cxnSpLocks/>
            <a:stCxn id="4" idx="1"/>
            <a:endCxn id="9" idx="3"/>
          </p:cNvCxnSpPr>
          <p:nvPr/>
        </p:nvCxnSpPr>
        <p:spPr bwMode="auto">
          <a:xfrm flipH="1" flipV="1">
            <a:off x="6400800" y="2501716"/>
            <a:ext cx="2562225" cy="1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0BC5328-D21B-614D-8EFA-ECA22C0B6E91}"/>
              </a:ext>
            </a:extLst>
          </p:cNvPr>
          <p:cNvSpPr txBox="1"/>
          <p:nvPr/>
        </p:nvSpPr>
        <p:spPr>
          <a:xfrm>
            <a:off x="6545036" y="1847690"/>
            <a:ext cx="2327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1C392F-5C27-C745-B422-55F3F9D70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20" y="3124200"/>
            <a:ext cx="1981200" cy="64633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3600" b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DirStruct</a:t>
            </a:r>
            <a:endParaRPr lang="en-US" sz="3600" b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F04D5B-F345-C044-BF84-F430EA2D417A}"/>
              </a:ext>
            </a:extLst>
          </p:cNvPr>
          <p:cNvCxnSpPr>
            <a:cxnSpLocks/>
          </p:cNvCxnSpPr>
          <p:nvPr/>
        </p:nvCxnSpPr>
        <p:spPr bwMode="auto">
          <a:xfrm>
            <a:off x="3095625" y="1514119"/>
            <a:ext cx="1335541" cy="626369"/>
          </a:xfrm>
          <a:prstGeom prst="straightConnector1">
            <a:avLst/>
          </a:prstGeom>
          <a:noFill/>
          <a:ln w="762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F94039E-8404-684D-81B9-B1B1143C5FB8}"/>
              </a:ext>
            </a:extLst>
          </p:cNvPr>
          <p:cNvSpPr txBox="1"/>
          <p:nvPr/>
        </p:nvSpPr>
        <p:spPr>
          <a:xfrm>
            <a:off x="1657860" y="1107158"/>
            <a:ext cx="182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Pointer 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BEB128-BA24-AD4C-8AE5-E5BEBF4D1DA5}"/>
              </a:ext>
            </a:extLst>
          </p:cNvPr>
          <p:cNvCxnSpPr>
            <a:cxnSpLocks/>
          </p:cNvCxnSpPr>
          <p:nvPr/>
        </p:nvCxnSpPr>
        <p:spPr bwMode="auto">
          <a:xfrm>
            <a:off x="642300" y="2140488"/>
            <a:ext cx="224220" cy="983712"/>
          </a:xfrm>
          <a:prstGeom prst="straightConnector1">
            <a:avLst/>
          </a:prstGeom>
          <a:noFill/>
          <a:ln w="762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0C1D465-7244-CD44-9B18-3F011C9B7833}"/>
              </a:ext>
            </a:extLst>
          </p:cNvPr>
          <p:cNvSpPr txBox="1"/>
          <p:nvPr/>
        </p:nvSpPr>
        <p:spPr>
          <a:xfrm>
            <a:off x="209550" y="1756581"/>
            <a:ext cx="182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Pointer 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6F8E5D-94E3-3943-9414-D1C935E6A5A5}"/>
              </a:ext>
            </a:extLst>
          </p:cNvPr>
          <p:cNvCxnSpPr>
            <a:cxnSpLocks/>
          </p:cNvCxnSpPr>
          <p:nvPr/>
        </p:nvCxnSpPr>
        <p:spPr bwMode="auto">
          <a:xfrm flipH="1">
            <a:off x="2847720" y="2438400"/>
            <a:ext cx="1571882" cy="933905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CC87859-EBB8-B646-B93D-6479A445CCF3}"/>
              </a:ext>
            </a:extLst>
          </p:cNvPr>
          <p:cNvSpPr txBox="1"/>
          <p:nvPr/>
        </p:nvSpPr>
        <p:spPr>
          <a:xfrm>
            <a:off x="1095120" y="2438400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44E72E-2223-034D-A753-8C741BD912A0}"/>
              </a:ext>
            </a:extLst>
          </p:cNvPr>
          <p:cNvCxnSpPr>
            <a:cxnSpLocks/>
          </p:cNvCxnSpPr>
          <p:nvPr/>
        </p:nvCxnSpPr>
        <p:spPr bwMode="auto">
          <a:xfrm flipV="1">
            <a:off x="2825820" y="2802655"/>
            <a:ext cx="1605346" cy="939925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BD7F111-13FF-0340-9AF6-2D3407207F8A}"/>
              </a:ext>
            </a:extLst>
          </p:cNvPr>
          <p:cNvSpPr txBox="1"/>
          <p:nvPr/>
        </p:nvSpPr>
        <p:spPr>
          <a:xfrm>
            <a:off x="3102386" y="3505727"/>
            <a:ext cx="3565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WriteDirStruct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1F58059-156B-C944-8452-4AE8A0ACF6EE}"/>
              </a:ext>
            </a:extLst>
          </p:cNvPr>
          <p:cNvSpPr txBox="1">
            <a:spLocks/>
          </p:cNvSpPr>
          <p:nvPr/>
        </p:nvSpPr>
        <p:spPr>
          <a:xfrm>
            <a:off x="209550" y="5257518"/>
            <a:ext cx="11982449" cy="12063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-65" charset="0"/>
                <a:ea typeface="ＭＳ Ｐゴシック" pitchFamily="-65" charset="-128"/>
              </a:defRPr>
            </a:lvl9pPr>
          </a:lstStyle>
          <a:p>
            <a:pPr marL="0" indent="0">
              <a:buFontTx/>
              <a:buNone/>
            </a:pPr>
            <a:r>
              <a:rPr lang="en-US" b="0" kern="0" dirty="0">
                <a:solidFill>
                  <a:srgbClr val="DD550C"/>
                </a:solidFill>
              </a:rPr>
              <a:t>Exercise 4: </a:t>
            </a:r>
            <a:r>
              <a:rPr lang="en-US" b="0" kern="0" dirty="0"/>
              <a:t>Where are the </a:t>
            </a:r>
            <a:r>
              <a:rPr lang="en-US" b="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blockRead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0" kern="0" dirty="0"/>
              <a:t> and </a:t>
            </a:r>
            <a:r>
              <a:rPr lang="en-US" b="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blockWrite</a:t>
            </a:r>
            <a:r>
              <a:rPr lang="en-US" b="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0" kern="0" dirty="0"/>
              <a:t> functions implemented (i.e., which source code file) in </a:t>
            </a:r>
            <a:r>
              <a:rPr lang="en-US" b="0" kern="0" dirty="0" err="1"/>
              <a:t>cpmFS</a:t>
            </a:r>
            <a:r>
              <a:rPr lang="en-US" b="0" kern="0" dirty="0"/>
              <a:t>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BF95AF-D45A-4713-884A-0C798F9AF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49" y="4318064"/>
            <a:ext cx="11514428" cy="91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7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95DF33-FF46-B04B-969C-AE8D3712A8B0}"/>
              </a:ext>
            </a:extLst>
          </p:cNvPr>
          <p:cNvSpPr txBox="1">
            <a:spLocks/>
          </p:cNvSpPr>
          <p:nvPr/>
        </p:nvSpPr>
        <p:spPr bwMode="auto">
          <a:xfrm>
            <a:off x="609600" y="533400"/>
            <a:ext cx="11125200" cy="3733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9pPr>
          </a:lstStyle>
          <a:p>
            <a:pPr algn="l"/>
            <a:r>
              <a:rPr lang="en-US" kern="0" dirty="0">
                <a:solidFill>
                  <a:srgbClr val="DD550C"/>
                </a:solidFill>
              </a:rPr>
              <a:t>Exercise 5 (Group Discussion): </a:t>
            </a:r>
            <a:r>
              <a:rPr lang="en-US" kern="0" dirty="0"/>
              <a:t>Please design the algorithm of the 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cpmDir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kern="0" dirty="0"/>
              <a:t>function. </a:t>
            </a:r>
          </a:p>
          <a:p>
            <a:pPr algn="l"/>
            <a:r>
              <a:rPr lang="en-US" sz="32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/* Print the file directory to </a:t>
            </a:r>
            <a:r>
              <a:rPr lang="en-US" sz="32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stdout</a:t>
            </a:r>
            <a:r>
              <a:rPr lang="en-US" sz="32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. */</a:t>
            </a:r>
          </a:p>
          <a:p>
            <a:pPr algn="l"/>
            <a:endParaRPr lang="en-US" kern="0" dirty="0"/>
          </a:p>
          <a:p>
            <a:pPr algn="l"/>
            <a:r>
              <a:rPr lang="en-US" kern="0" dirty="0"/>
              <a:t>Hint: (1) How to display names? (2) How to print file lengths?</a:t>
            </a:r>
          </a:p>
        </p:txBody>
      </p:sp>
    </p:spTree>
    <p:extLst>
      <p:ext uri="{BB962C8B-B14F-4D97-AF65-F5344CB8AC3E}">
        <p14:creationId xmlns:p14="http://schemas.microsoft.com/office/powerpoint/2010/main" val="3317859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95E47-2E00-8C4E-8F72-D23889799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1" y="152400"/>
            <a:ext cx="11772899" cy="63246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cpmDir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cpm_block0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blockRead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(block0); /read block0 into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	for all the extent referred by index in cpm_block0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cpm_dir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mkDirStruct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(index, cmp_block0);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		if (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cpm_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-&gt;status is used) { /* 0xe5 */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/* Compute file length */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block_number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			for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b_index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b_index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&lt;16;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b_index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if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cpm_dir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-&gt;blocks[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b_index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!= 0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block_number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			}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/* RC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cpm_dir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-&gt;RC, BC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cpm_dir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-&gt;BC */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file_length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(block_number-1)*1024+RC*128+BC;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	      /* A bug if both RC and BC are 0s*/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print file name and length from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} /* end if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cmp_dir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-&gt;status is used. */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3198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95DF33-FF46-B04B-969C-AE8D3712A8B0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11125200" cy="1828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0">
                <a:solidFill>
                  <a:srgbClr val="03244D"/>
                </a:solidFill>
                <a:latin typeface="Calibri" charset="0"/>
                <a:ea typeface="Calibri" charset="0"/>
                <a:cs typeface="Calibri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-65" charset="0"/>
              </a:defRPr>
            </a:lvl9pPr>
          </a:lstStyle>
          <a:p>
            <a:pPr algn="l"/>
            <a:r>
              <a:rPr lang="en-US" kern="0" dirty="0">
                <a:solidFill>
                  <a:srgbClr val="DD550C"/>
                </a:solidFill>
              </a:rPr>
              <a:t>Exercise 6 (Group Discussion): </a:t>
            </a:r>
            <a:r>
              <a:rPr lang="en-US" kern="0" dirty="0"/>
              <a:t>Please design the algorithm of the 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mkDirStruct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kern="0" dirty="0"/>
              <a:t>function. 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8B2B5783-6144-2B46-B14C-BCC6CB91B521}"/>
              </a:ext>
            </a:extLst>
          </p:cNvPr>
          <p:cNvSpPr/>
          <p:nvPr/>
        </p:nvSpPr>
        <p:spPr bwMode="auto">
          <a:xfrm>
            <a:off x="9163050" y="2209800"/>
            <a:ext cx="2343150" cy="3962400"/>
          </a:xfrm>
          <a:prstGeom prst="can">
            <a:avLst/>
          </a:prstGeom>
          <a:noFill/>
          <a:ln w="38100" cap="flat" cmpd="sng" algn="ctr">
            <a:solidFill>
              <a:srgbClr val="03244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214E2-310E-5340-B404-8C380BAD0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4025" y="3031396"/>
            <a:ext cx="1981200" cy="76944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051449-3B67-0740-8126-CCCAA6E6F89B}"/>
              </a:ext>
            </a:extLst>
          </p:cNvPr>
          <p:cNvSpPr/>
          <p:nvPr/>
        </p:nvSpPr>
        <p:spPr bwMode="auto">
          <a:xfrm>
            <a:off x="4572000" y="2209800"/>
            <a:ext cx="2476500" cy="3962400"/>
          </a:xfrm>
          <a:prstGeom prst="rect">
            <a:avLst/>
          </a:prstGeom>
          <a:solidFill>
            <a:srgbClr val="03244D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-65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DFFC3-3E9A-1E4A-A5CA-EDEF2B733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031395"/>
            <a:ext cx="1981200" cy="76944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4400" b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2105A3-7D80-4344-B709-7366346A858D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 bwMode="auto">
          <a:xfrm flipH="1" flipV="1">
            <a:off x="6781800" y="3416116"/>
            <a:ext cx="2562225" cy="1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D13F59-561F-0C48-92E5-A2A1BCBE4F74}"/>
              </a:ext>
            </a:extLst>
          </p:cNvPr>
          <p:cNvSpPr txBox="1"/>
          <p:nvPr/>
        </p:nvSpPr>
        <p:spPr>
          <a:xfrm>
            <a:off x="6926036" y="2762090"/>
            <a:ext cx="2327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8EE7B-22A0-664B-8A6D-91A9EAA72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520" y="4038600"/>
            <a:ext cx="1981200" cy="646331"/>
          </a:xfrm>
          <a:prstGeom prst="rect">
            <a:avLst/>
          </a:prstGeom>
          <a:solidFill>
            <a:srgbClr val="DD550C"/>
          </a:solidFill>
          <a:ln w="114300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rebuchet MS" charset="0"/>
                <a:ea typeface="ＭＳ Ｐゴシック" charset="-128"/>
              </a:defRPr>
            </a:lvl9pPr>
          </a:lstStyle>
          <a:p>
            <a:pPr marL="91440" indent="-91440" algn="ctr">
              <a:spcBef>
                <a:spcPts val="0"/>
              </a:spcBef>
              <a:spcAft>
                <a:spcPts val="0"/>
              </a:spcAft>
            </a:pPr>
            <a:r>
              <a:rPr lang="en-US" sz="3600" b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DirStruct</a:t>
            </a:r>
            <a:endParaRPr lang="en-US" sz="3600" b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E5FA43-21AC-E840-8E60-25E1CC36F38C}"/>
              </a:ext>
            </a:extLst>
          </p:cNvPr>
          <p:cNvCxnSpPr>
            <a:cxnSpLocks/>
          </p:cNvCxnSpPr>
          <p:nvPr/>
        </p:nvCxnSpPr>
        <p:spPr bwMode="auto">
          <a:xfrm>
            <a:off x="3476625" y="2428519"/>
            <a:ext cx="1335541" cy="626369"/>
          </a:xfrm>
          <a:prstGeom prst="straightConnector1">
            <a:avLst/>
          </a:prstGeom>
          <a:noFill/>
          <a:ln w="762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2C580D-37B7-9C44-83C6-145A90CE84BB}"/>
              </a:ext>
            </a:extLst>
          </p:cNvPr>
          <p:cNvSpPr txBox="1"/>
          <p:nvPr/>
        </p:nvSpPr>
        <p:spPr>
          <a:xfrm>
            <a:off x="2038860" y="2021558"/>
            <a:ext cx="182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Pointer 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10579F-AB1B-BB47-9C0D-1BCC5215CD21}"/>
              </a:ext>
            </a:extLst>
          </p:cNvPr>
          <p:cNvCxnSpPr>
            <a:cxnSpLocks/>
          </p:cNvCxnSpPr>
          <p:nvPr/>
        </p:nvCxnSpPr>
        <p:spPr bwMode="auto">
          <a:xfrm>
            <a:off x="1023300" y="3054888"/>
            <a:ext cx="224220" cy="983712"/>
          </a:xfrm>
          <a:prstGeom prst="straightConnector1">
            <a:avLst/>
          </a:prstGeom>
          <a:noFill/>
          <a:ln w="762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FD7208-EFEB-2548-B2A9-FE51F02DAEB4}"/>
              </a:ext>
            </a:extLst>
          </p:cNvPr>
          <p:cNvSpPr txBox="1"/>
          <p:nvPr/>
        </p:nvSpPr>
        <p:spPr>
          <a:xfrm>
            <a:off x="590550" y="2670981"/>
            <a:ext cx="182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Pointer 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B53B4A-687E-1E41-9E53-5FAA10C16474}"/>
              </a:ext>
            </a:extLst>
          </p:cNvPr>
          <p:cNvCxnSpPr>
            <a:cxnSpLocks/>
          </p:cNvCxnSpPr>
          <p:nvPr/>
        </p:nvCxnSpPr>
        <p:spPr bwMode="auto">
          <a:xfrm flipH="1">
            <a:off x="3228720" y="3352800"/>
            <a:ext cx="1571882" cy="933905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94A686E-A6C5-A440-BEE4-0A07360E80CE}"/>
              </a:ext>
            </a:extLst>
          </p:cNvPr>
          <p:cNvSpPr txBox="1"/>
          <p:nvPr/>
        </p:nvSpPr>
        <p:spPr>
          <a:xfrm>
            <a:off x="1476120" y="3352800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6F3EAB-E13B-AA4E-8465-C17B572B2884}"/>
              </a:ext>
            </a:extLst>
          </p:cNvPr>
          <p:cNvCxnSpPr>
            <a:cxnSpLocks/>
          </p:cNvCxnSpPr>
          <p:nvPr/>
        </p:nvCxnSpPr>
        <p:spPr bwMode="auto">
          <a:xfrm flipV="1">
            <a:off x="3206820" y="3717055"/>
            <a:ext cx="1605346" cy="939925"/>
          </a:xfrm>
          <a:prstGeom prst="straightConnector1">
            <a:avLst/>
          </a:prstGeom>
          <a:noFill/>
          <a:ln w="114300" cap="flat" cmpd="sng" algn="ctr">
            <a:solidFill>
              <a:srgbClr val="03244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329662-4076-F14E-892D-973CE5668FBD}"/>
              </a:ext>
            </a:extLst>
          </p:cNvPr>
          <p:cNvSpPr txBox="1"/>
          <p:nvPr/>
        </p:nvSpPr>
        <p:spPr>
          <a:xfrm>
            <a:off x="3483386" y="4420127"/>
            <a:ext cx="3565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WriteDirStruct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7803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874C-ECBB-1940-9432-C60E4716A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/>
          </a:p>
        </p:txBody>
      </p:sp>
      <p:pic>
        <p:nvPicPr>
          <p:cNvPr id="3" name="Picture 2" descr="http://ptgmedia.pearsoncmg.com/images/art_tanenbaum_mod06/elementLinks/tanenbaum_mod06_fn03.gif">
            <a:extLst>
              <a:ext uri="{FF2B5EF4-FFF2-40B4-BE49-F238E27FC236}">
                <a16:creationId xmlns:a16="http://schemas.microsoft.com/office/drawing/2014/main" id="{FBCA61C7-EAA9-0647-ABAD-CBB4E0F8FF2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35529"/>
            <a:ext cx="8077200" cy="192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A23F39-02DE-924C-8C1E-0201D56F1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" y="3505200"/>
            <a:ext cx="104648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33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0521543-4B91-4417-90A9-7E8D10CE0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11430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Summary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066825F-DF27-4BB7-88E0-65FE4DA4E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38600" y="1447800"/>
            <a:ext cx="81534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600" dirty="0"/>
              <a:t>How to implement </a:t>
            </a:r>
            <a:r>
              <a:rPr lang="en-US" alt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cpmDir</a:t>
            </a:r>
            <a:r>
              <a:rPr lang="en-US" alt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3600" dirty="0"/>
              <a:t>? </a:t>
            </a:r>
          </a:p>
          <a:p>
            <a:pPr>
              <a:lnSpc>
                <a:spcPct val="90000"/>
              </a:lnSpc>
            </a:pPr>
            <a:r>
              <a:rPr lang="en-US" altLang="en-US" sz="3600" dirty="0"/>
              <a:t>How to implement </a:t>
            </a:r>
            <a:r>
              <a:rPr lang="en-US" alt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mkDirStruct</a:t>
            </a:r>
            <a:r>
              <a:rPr lang="en-US" alt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3600" dirty="0"/>
              <a:t>?</a:t>
            </a:r>
          </a:p>
          <a:p>
            <a:pPr>
              <a:lnSpc>
                <a:spcPct val="90000"/>
              </a:lnSpc>
            </a:pPr>
            <a:endParaRPr lang="en-US" altLang="en-US" sz="3600" dirty="0"/>
          </a:p>
        </p:txBody>
      </p:sp>
      <p:pic>
        <p:nvPicPr>
          <p:cNvPr id="8" name="Picture 7" descr="A close up of a logo&#10;&#10;Description generated with high confidence">
            <a:extLst>
              <a:ext uri="{FF2B5EF4-FFF2-40B4-BE49-F238E27FC236}">
                <a16:creationId xmlns:a16="http://schemas.microsoft.com/office/drawing/2014/main" id="{7170547B-6060-420B-9301-584B8408C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33156"/>
            <a:ext cx="3058386" cy="305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81039"/>
      </p:ext>
    </p:extLst>
  </p:cSld>
  <p:clrMapOvr>
    <a:masterClrMapping/>
  </p:clrMapOvr>
</p:sld>
</file>

<file path=ppt/theme/theme1.xml><?xml version="1.0" encoding="utf-8"?>
<a:theme xmlns:a="http://schemas.openxmlformats.org/drawingml/2006/main" name="nasa.osma.sas2001">
  <a:themeElements>
    <a:clrScheme name="nasa.osma.sas20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asa.osma.sas20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-65" charset="0"/>
          </a:defRPr>
        </a:defPPr>
      </a:lstStyle>
    </a:lnDef>
  </a:objectDefaults>
  <a:extraClrSchemeLst>
    <a:extraClrScheme>
      <a:clrScheme name="nasa.osma.sas20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sa.osma.sas200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sa.osma.sas200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sa.osma.sas200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sa.osma.sas200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sa.osma.sas200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sa.osma.sas200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C:\cross\papers\NASA.OSMA.SAS'01\nasa.osma.sas2001.ppt</Template>
  <TotalTime>12245</TotalTime>
  <Words>591</Words>
  <Application>Microsoft Office PowerPoint</Application>
  <PresentationFormat>Widescreen</PresentationFormat>
  <Paragraphs>90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Verdana</vt:lpstr>
      <vt:lpstr>nasa.osma.sas2001</vt:lpstr>
      <vt:lpstr>COMP 7500  Advanced Operating Systems</vt:lpstr>
      <vt:lpstr>Review: Disk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 for mkDirStruct()</vt:lpstr>
      <vt:lpstr>Summary</vt:lpstr>
    </vt:vector>
  </TitlesOfParts>
  <Manager/>
  <Company>Auburn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Auburn University CSSE Graduate Student Orientation</dc:title>
  <dc:subject/>
  <dc:creator>Xiao Qin</dc:creator>
  <cp:keywords/>
  <dc:description>Department of Computer Science and Software Engineering</dc:description>
  <cp:lastModifiedBy>Xiao Qin</cp:lastModifiedBy>
  <cp:revision>810</cp:revision>
  <cp:lastPrinted>2010-08-20T15:06:51Z</cp:lastPrinted>
  <dcterms:created xsi:type="dcterms:W3CDTF">2010-08-19T20:24:24Z</dcterms:created>
  <dcterms:modified xsi:type="dcterms:W3CDTF">2024-04-08T13:54:17Z</dcterms:modified>
  <cp:category/>
</cp:coreProperties>
</file>